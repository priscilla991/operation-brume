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4db79cb-4f1e-9483-ebf2-0527e3e81f50}">
          <p14:sldIdLst>
            <p14:sldId id="256"/>
          </p14:sldIdLst>
        </p14:section>
        <p14:section name="Méthode" id="{304a664f-90c1-dc92-ff4b-8e70556c308e}">
          <p14:sldIdLst>
            <p14:sldId id="257"/>
            <p14:sldId id="258"/>
          </p14:sldIdLst>
        </p14:section>
        <p14:section name="L'attaque" id="{858e26d2-a41d-fd79-b92b-c7b51e69fa83}">
          <p14:sldIdLst>
            <p14:sldId id="259"/>
            <p14:sldId id="260"/>
            <p14:sldId id="261"/>
          </p14:sldIdLst>
        </p14:section>
        <p14:section name="Détection et recommandations" id="{fb7b275d-97b5-cd98-2dff-5695318093b8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2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328"/>
                </a:solidFill>
                <a:latin typeface="+mn-lt"/>
              </a:rPr>
              <a:t>Avance de la première alerte sur le sabotage (jours)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 sur le sabotage (jours)</c:v>
                </c:pt>
              </c:strCache>
            </c:strRef>
          </c:tx>
          <c:spPr>
            <a:solidFill>
              <a:srgbClr val="1D6B58"/>
            </a:solidFill>
            <a:effectLst/>
          </c:spPr>
          <c:invertIfNegative val="0"/>
          <c:dLbls>
            <c:numFmt formatCode="0.0 &quot;j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R1 Courriel sosie / double ext.</c:v>
                  </c:pt>
                  <c:pt idx="1">
                    <c:v>R2 VPN hors France</c:v>
                  </c:pt>
                  <c:pt idx="2">
                    <c:v>R3 IP hors inventaire</c:v>
                  </c:pt>
                  <c:pt idx="3">
                    <c:v>R4 Balayage</c:v>
                  </c:pt>
                  <c:pt idx="4">
                    <c:v>R5 Rafale puis succès</c:v>
                  </c:pt>
                  <c:pt idx="5">
                    <c:v>R6 Ajout groupe admin</c:v>
                  </c:pt>
                  <c:pt idx="6">
                    <c:v>R7 Envoi ≥ 100 Mo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8.7</c:v>
                </c:pt>
                <c:pt idx="1">
                  <c:v>8.2</c:v>
                </c:pt>
                <c:pt idx="2">
                  <c:v>8.1</c:v>
                </c:pt>
                <c:pt idx="3">
                  <c:v>8.1</c:v>
                </c:pt>
                <c:pt idx="4">
                  <c:v>6.1</c:v>
                </c:pt>
                <c:pt idx="5">
                  <c:v>6.1</c:v>
                </c:pt>
                <c:pt idx="6">
                  <c:v>1</c:v>
                </c:pt>
              </c:numCache>
            </c:numRef>
          </c:val>
        </c:ser>
        <c:dLbls>
          <c:numFmt formatCode="0.0 &quot;j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Je vous présente l'Opération Brume : l'enquête sur l'attaque subie par Nordis Logistique, une entreprise fictive. J'ai travaillé seule, avec l'accord de l'intervenant. En 15 minutes : la méthode, ce que j'ai trouvé, et ce que je recommande. (30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mission : comprendre ce qui s'est passé, à partir de 7 journaux, soit près de 98 000 lignes sur trois semaines. Ma démarche tient en trois temps. D'abord décrire la normale, parce qu'on ne voit une anomalie que si on sait à quoi ressemble une journée ordinaire. Ensuite suivre le fil d'une source à l'autre. Enfin tout ramener sur une frise, en ne gardant que ce qui est confirmé par au moins deux sources. Chaque ligne chargée garde son fichier et son numéro de ligne : chaque conclusion est prouvée. J'ai utilisé un assistant d'IA pour structurer le code, comme l'énoncé l'autorise ; j'ai exécuté et vérifié chaque résultat.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Premier script : la normale. En semaine, l'activité va de 7 h à 19 h ; la nuit, il ne se passe presque rien. 99,7 % des connexions VPN viennent de France. Et 98 % des alertes de l'EDR sont closes comme fausses alarmes : c'est la fatigue d'alerte. Ces repères deviennent mes seuils. Ce qui m'a le plus surprise, c'est justement que l'attaquant n'agit que la nuit, quand personne ne regarde. (1 min 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d'entrée. Mon script cherche les courriels livrés qui imitent un domaine connu, ont une double extension ou un score juste sous le seuil. Un seul coche toutes les cases : une fausse facture reçue par l.perrin, de la comptabilité, à 10 h 48. 26 minutes plus tard, elle ouvre le lien et envoie le formulaire : son mot de passe est volé. L'EDR le signale à 11 h 20, mais l'alerte reste ouverte. Le soir même, l'adresse 203.0.113.87 se connecte au VPN avec son compte. Trois sources, un même compte : c'est solide. Limite honnête : je ne sais pas comment le second facteur a été contourné.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Ensuite, la progression. Le 12 septembre à 1 h du matin, une adresse interne inconnue de l'inventaire teste 8 serveurs sur 5 ports en 25 secondes : c'est un balayage. Elle n'agit que pendant les sessions VPN de l'attaquant : c'est son adresse VPN. Le 14, il devine en 2 minutes le mot de passe d'un administrateur, n.vincent, et crée dans la foulée un compte caché, svc_monitoring, qu'il ajoute aux Admins du domaine : c'est sa persistance. J'ai aussi écarté des fausses pistes : les échecs de connexion quotidiens sont des fautes de frappe, et les nouveaux comptes du service RH sont de vraies embauches.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la frise complète. Les bandes grises sont les nuits : tout s'y passe. Le samedi 19 à 3 h 37, 140 envois partent vers un site de stockage externe : 0,89 Go, 377 fois plus que l'hôte médian. Ce même pic explique d'ailleurs l'anomalie du proxy ce samedi-là. Le dimanche 20, il supprime les sauvegardes puis lance le rançongiciel sur le serveur de fichiers du siège. Au total : 8 jours et 18 heures d'exposition, et 5 alertes EDR justes, toutes restées ouvertes. Les outils avaient vu ; personne n'a réagi, parce que 98 % de fausses alarmes et aucune surveillance la nuit.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conclure l'enquête, j'ai écrit 7 règles de détection en Python et je les ai rejouées sur les trois semaines. Toutes détectent l'attaque. Les quatre premières auraient alerté dès la première nuit, plus de 8 jours avant le sabotage. Et elles ne produisent que 15 alertes en trois semaines, contre 208 pour l'EDR : un analyste peut les traiter. Mais je reste prudente : je les ai mises au point sur ces mêmes données, donc l'absence de fausses alertes est optimiste. Il faudrait les valider sur d'autres périodes.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 recommandations, par ordre d'urgence. Immédiatement : chasser l'attaquant et restaurer, et vérifier s'il faut notifier la CNIL. Sous un mois : un MFA résistant à l'hameçonnage, un verrouillage après échecs, et surtout une astreinte la nuit, puisque c'est là que tout s'est joué. Sous trois mois : déployer mes règles. Avec plus de temps, je les traduirais en règles Sigma pour un SIEM comme Wazuh, exécutées chaque nuit. Ce que je retiens : les outils avaient tout vu, c'est la réaction qui a manqué. Et Python m'a appris à automatiser une analyse impossible à la main. Merci, je suis prête pour vos questions.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rgbClr val="12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FD6D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86"/>
                </a:solidFill>
              </a:rPr>
              <a:t>Opération Brume · PYS-701 · Priscilla MANEDJI NGOUANA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sombre">
    <p:bg>
      <p:bgPr>
        <a:solidFill>
          <a:srgbClr val="12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Opération Brume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6D0"/>
                </a:solidFill>
              </a:rPr>
              <a:t>Reconstituer une intrusion à partir de sept journaux, avec Python</a:t>
            </a:r>
            <a:endParaRPr lang="en-US" sz="1800" dirty="0"/>
          </a:p>
        </p:txBody>
      </p:sp>
      <p:sp>
        <p:nvSpPr>
          <p:cNvPr id="4" name="Fond logo"/>
          <p:cNvSpPr/>
          <p:nvPr/>
        </p:nvSpPr>
        <p:spPr>
          <a:xfrm>
            <a:off x="548640" y="502920"/>
            <a:ext cx="868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Logo PM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731520" cy="685800"/>
          </a:xfrm>
          <a:prstGeom prst="rect">
            <a:avLst/>
          </a:prstGeom>
        </p:spPr>
      </p:pic>
      <p:sp>
        <p:nvSpPr>
          <p:cNvPr id="6" name="Auteur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CE8E5"/>
                </a:solidFill>
              </a:rPr>
              <a:t>Priscilla MANEDJI NGOUANA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8E5"/>
                </a:solidFill>
              </a:rPr>
              <a:t>Module PYS-701 – Python pour la sécurité · Intervenant : Dafnis KRASNIQI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8E5"/>
                </a:solidFill>
              </a:rPr>
              <a:t>École PMN · 23 octobre 2026 · projet individuel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Une question, sept journaux, trois semaines de traces</a:t>
            </a:r>
            <a:endParaRPr lang="en-US" sz="2600" dirty="0"/>
          </a:p>
        </p:txBody>
      </p:sp>
      <p:sp>
        <p:nvSpPr>
          <p:cNvPr id="3" name="Sources chiffre"/>
          <p:cNvSpPr txBox="1"/>
          <p:nvPr/>
        </p:nvSpPr>
        <p:spPr>
          <a:xfrm>
            <a:off x="457200" y="1188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4" name="Sources légende"/>
          <p:cNvSpPr txBox="1"/>
          <p:nvPr/>
        </p:nvSpPr>
        <p:spPr>
          <a:xfrm>
            <a:off x="457200" y="1755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sources : VPN, AD, proxy, pare-feu, courriel, EDR, inventaire</a:t>
            </a:r>
            <a:endParaRPr lang="en-US" sz="1200" dirty="0"/>
          </a:p>
        </p:txBody>
      </p:sp>
      <p:sp>
        <p:nvSpPr>
          <p:cNvPr id="5" name="Lignes chiffre"/>
          <p:cNvSpPr txBox="1"/>
          <p:nvPr/>
        </p:nvSpPr>
        <p:spPr>
          <a:xfrm>
            <a:off x="45720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97 991</a:t>
            </a:r>
            <a:endParaRPr lang="en-US" sz="3400" dirty="0"/>
          </a:p>
        </p:txBody>
      </p:sp>
      <p:sp>
        <p:nvSpPr>
          <p:cNvPr id="6" name="Lignes légende"/>
          <p:cNvSpPr txBox="1"/>
          <p:nvPr/>
        </p:nvSpPr>
        <p:spPr>
          <a:xfrm>
            <a:off x="457200" y="2944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lignes de journaux, du 31/08 au 20/09</a:t>
            </a:r>
            <a:endParaRPr lang="en-US" sz="1200" dirty="0"/>
          </a:p>
        </p:txBody>
      </p:sp>
      <p:sp>
        <p:nvSpPr>
          <p:cNvPr id="7" name="Scripts chiffre"/>
          <p:cNvSpPr txBox="1"/>
          <p:nvPr/>
        </p:nvSpPr>
        <p:spPr>
          <a:xfrm>
            <a:off x="457200" y="3566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Scripts légende"/>
          <p:cNvSpPr txBox="1"/>
          <p:nvPr/>
        </p:nvSpPr>
        <p:spPr>
          <a:xfrm>
            <a:off x="457200" y="4133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scripts Python rejouables et 6 tests</a:t>
            </a:r>
            <a:endParaRPr lang="en-US" sz="1200" dirty="0"/>
          </a:p>
        </p:txBody>
      </p:sp>
      <p:sp>
        <p:nvSpPr>
          <p:cNvPr id="9" name="Étape 1"/>
          <p:cNvSpPr/>
          <p:nvPr/>
        </p:nvSpPr>
        <p:spPr>
          <a:xfrm>
            <a:off x="2743200" y="1188720"/>
            <a:ext cx="5943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Étape 1 cercle"/>
          <p:cNvSpPr/>
          <p:nvPr/>
        </p:nvSpPr>
        <p:spPr>
          <a:xfrm>
            <a:off x="2926080" y="1389888"/>
            <a:ext cx="603504" cy="603504"/>
          </a:xfrm>
          <a:prstGeom prst="ellipse">
            <a:avLst/>
          </a:prstGeom>
          <a:solidFill>
            <a:srgbClr val="1D6B58"/>
          </a:solidFill>
          <a:ln w="12700">
            <a:solidFill>
              <a:srgbClr val="1D6B58"/>
            </a:solidFill>
            <a:prstDash val="solid"/>
          </a:ln>
        </p:spPr>
      </p:sp>
      <p:pic>
        <p:nvPicPr>
          <p:cNvPr id="11" name="Étap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1540764"/>
            <a:ext cx="301752" cy="301752"/>
          </a:xfrm>
          <a:prstGeom prst="rect">
            <a:avLst/>
          </a:prstGeom>
        </p:spPr>
      </p:pic>
      <p:sp>
        <p:nvSpPr>
          <p:cNvPr id="12" name="Étape titre 1"/>
          <p:cNvSpPr txBox="1"/>
          <p:nvPr/>
        </p:nvSpPr>
        <p:spPr>
          <a:xfrm>
            <a:off x="3703320" y="1298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Décrire la normale</a:t>
            </a:r>
            <a:endParaRPr lang="en-US" sz="1600" dirty="0"/>
          </a:p>
        </p:txBody>
      </p:sp>
      <p:sp>
        <p:nvSpPr>
          <p:cNvPr id="13" name="Étape texte 1"/>
          <p:cNvSpPr txBox="1"/>
          <p:nvPr/>
        </p:nvSpPr>
        <p:spPr>
          <a:xfrm>
            <a:off x="3703320" y="1618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Volumes par heure et par jour, pays VPN, scores des courriels : ce sont mes seuils.</a:t>
            </a:r>
            <a:endParaRPr lang="en-US" sz="1300" dirty="0"/>
          </a:p>
        </p:txBody>
      </p:sp>
      <p:sp>
        <p:nvSpPr>
          <p:cNvPr id="14" name="Étape 2"/>
          <p:cNvSpPr/>
          <p:nvPr/>
        </p:nvSpPr>
        <p:spPr>
          <a:xfrm>
            <a:off x="2743200" y="2350008"/>
            <a:ext cx="5943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Étape 2 cercle"/>
          <p:cNvSpPr/>
          <p:nvPr/>
        </p:nvSpPr>
        <p:spPr>
          <a:xfrm>
            <a:off x="2926080" y="2551176"/>
            <a:ext cx="603504" cy="603504"/>
          </a:xfrm>
          <a:prstGeom prst="ellipse">
            <a:avLst/>
          </a:prstGeom>
          <a:solidFill>
            <a:srgbClr val="1D6B58"/>
          </a:solidFill>
          <a:ln w="12700">
            <a:solidFill>
              <a:srgbClr val="1D6B58"/>
            </a:solidFill>
            <a:prstDash val="solid"/>
          </a:ln>
        </p:spPr>
      </p:sp>
      <p:pic>
        <p:nvPicPr>
          <p:cNvPr id="16" name="Étap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6" y="2702052"/>
            <a:ext cx="301752" cy="301752"/>
          </a:xfrm>
          <a:prstGeom prst="rect">
            <a:avLst/>
          </a:prstGeom>
        </p:spPr>
      </p:pic>
      <p:sp>
        <p:nvSpPr>
          <p:cNvPr id="17" name="Étape titre 2"/>
          <p:cNvSpPr txBox="1"/>
          <p:nvPr/>
        </p:nvSpPr>
        <p:spPr>
          <a:xfrm>
            <a:off x="3703320" y="2459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Suivre le fil</a:t>
            </a:r>
            <a:endParaRPr lang="en-US" sz="1600" dirty="0"/>
          </a:p>
        </p:txBody>
      </p:sp>
      <p:sp>
        <p:nvSpPr>
          <p:cNvPr id="18" name="Étape texte 2"/>
          <p:cNvSpPr txBox="1"/>
          <p:nvPr/>
        </p:nvSpPr>
        <p:spPr>
          <a:xfrm>
            <a:off x="3703320" y="2779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Partir d'un indice fort et passer d'une source à l'autre : courriel → clic → VPN → AD → pare-feu.</a:t>
            </a:r>
            <a:endParaRPr lang="en-US" sz="1300" dirty="0"/>
          </a:p>
        </p:txBody>
      </p:sp>
      <p:sp>
        <p:nvSpPr>
          <p:cNvPr id="19" name="Étape 3"/>
          <p:cNvSpPr/>
          <p:nvPr/>
        </p:nvSpPr>
        <p:spPr>
          <a:xfrm>
            <a:off x="2743200" y="3511296"/>
            <a:ext cx="5943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Étape 3 cercle"/>
          <p:cNvSpPr/>
          <p:nvPr/>
        </p:nvSpPr>
        <p:spPr>
          <a:xfrm>
            <a:off x="2926080" y="3712464"/>
            <a:ext cx="603504" cy="603504"/>
          </a:xfrm>
          <a:prstGeom prst="ellipse">
            <a:avLst/>
          </a:prstGeom>
          <a:solidFill>
            <a:srgbClr val="1D6B58"/>
          </a:solidFill>
          <a:ln w="12700">
            <a:solidFill>
              <a:srgbClr val="1D6B58"/>
            </a:solidFill>
            <a:prstDash val="solid"/>
          </a:ln>
        </p:spPr>
      </p:sp>
      <p:pic>
        <p:nvPicPr>
          <p:cNvPr id="21" name="Étap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6" y="3863340"/>
            <a:ext cx="301752" cy="301752"/>
          </a:xfrm>
          <a:prstGeom prst="rect">
            <a:avLst/>
          </a:prstGeom>
        </p:spPr>
      </p:pic>
      <p:sp>
        <p:nvSpPr>
          <p:cNvPr id="22" name="Étape titre 3"/>
          <p:cNvSpPr txBox="1"/>
          <p:nvPr/>
        </p:nvSpPr>
        <p:spPr>
          <a:xfrm>
            <a:off x="3703320" y="36210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Tout mettre sur une frise</a:t>
            </a:r>
            <a:endParaRPr lang="en-US" sz="1600" dirty="0"/>
          </a:p>
        </p:txBody>
      </p:sp>
      <p:sp>
        <p:nvSpPr>
          <p:cNvPr id="23" name="Étape texte 3"/>
          <p:cNvSpPr txBox="1"/>
          <p:nvPr/>
        </p:nvSpPr>
        <p:spPr>
          <a:xfrm>
            <a:off x="3703320" y="39410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 garder que les faits recoupés par deux sources, chacun avec sa preuve : fichier + n° de ligne.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normale : une entreprise qui dort la nuit</a:t>
            </a:r>
            <a:endParaRPr lang="en-US" sz="2600" dirty="0"/>
          </a:p>
        </p:txBody>
      </p:sp>
      <p:pic>
        <p:nvPicPr>
          <p:cNvPr id="3" name="Graphique journée ty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212080" cy="1737360"/>
          </a:xfrm>
          <a:prstGeom prst="rect">
            <a:avLst/>
          </a:prstGeom>
        </p:spPr>
      </p:pic>
      <p:sp>
        <p:nvSpPr>
          <p:cNvPr id="4" name="Légende graphique"/>
          <p:cNvSpPr txBox="1"/>
          <p:nvPr/>
        </p:nvSpPr>
        <p:spPr>
          <a:xfrm>
            <a:off x="45720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6A"/>
                </a:solidFill>
              </a:rPr>
              <a:t>Activité web : en semaine de 7 h à 19 h, quasi nulle la nuit et le week-end</a:t>
            </a:r>
            <a:endParaRPr lang="en-US" sz="1100" dirty="0"/>
          </a:p>
        </p:txBody>
      </p:sp>
      <p:sp>
        <p:nvSpPr>
          <p:cNvPr id="5" name="Encadré conclusion"/>
          <p:cNvSpPr/>
          <p:nvPr/>
        </p:nvSpPr>
        <p:spPr>
          <a:xfrm>
            <a:off x="457200" y="3337560"/>
            <a:ext cx="5212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e conclusion"/>
          <p:cNvSpPr txBox="1"/>
          <p:nvPr/>
        </p:nvSpPr>
        <p:spPr>
          <a:xfrm>
            <a:off x="640080" y="34290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Ce que ça m'apprend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toute l'activité de l'attaquant tombe entre 23 h et 5 h. C'est là qu'il faut regarder… et là que personne ne regarde.</a:t>
            </a:r>
            <a:endParaRPr lang="en-US" sz="1400" dirty="0"/>
          </a:p>
        </p:txBody>
      </p:sp>
      <p:sp>
        <p:nvSpPr>
          <p:cNvPr id="7" name="VPN France chiffre"/>
          <p:cNvSpPr txBox="1"/>
          <p:nvPr/>
        </p:nvSpPr>
        <p:spPr>
          <a:xfrm>
            <a:off x="612648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99,7 %</a:t>
            </a:r>
            <a:endParaRPr lang="en-US" sz="3400" dirty="0"/>
          </a:p>
        </p:txBody>
      </p:sp>
      <p:sp>
        <p:nvSpPr>
          <p:cNvPr id="8" name="VPN France légende"/>
          <p:cNvSpPr txBox="1"/>
          <p:nvPr/>
        </p:nvSpPr>
        <p:spPr>
          <a:xfrm>
            <a:off x="612648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 connexions VPN viennent de France</a:t>
            </a:r>
            <a:endParaRPr lang="en-US" sz="1200" dirty="0"/>
          </a:p>
        </p:txBody>
      </p:sp>
      <p:sp>
        <p:nvSpPr>
          <p:cNvPr id="9" name="Trafic nuit chiffre"/>
          <p:cNvSpPr txBox="1"/>
          <p:nvPr/>
        </p:nvSpPr>
        <p:spPr>
          <a:xfrm>
            <a:off x="612648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0,5 %</a:t>
            </a:r>
            <a:endParaRPr lang="en-US" sz="3400" dirty="0"/>
          </a:p>
        </p:txBody>
      </p:sp>
      <p:sp>
        <p:nvSpPr>
          <p:cNvPr id="10" name="Trafic nuit légende"/>
          <p:cNvSpPr txBox="1"/>
          <p:nvPr/>
        </p:nvSpPr>
        <p:spPr>
          <a:xfrm>
            <a:off x="6126480" y="2807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 trafic web a lieu entre 20 h et 7 h</a:t>
            </a:r>
            <a:endParaRPr lang="en-US" sz="1200" dirty="0"/>
          </a:p>
        </p:txBody>
      </p:sp>
      <p:sp>
        <p:nvSpPr>
          <p:cNvPr id="11" name="Faux positifs chiffre"/>
          <p:cNvSpPr txBox="1"/>
          <p:nvPr/>
        </p:nvSpPr>
        <p:spPr>
          <a:xfrm>
            <a:off x="6126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98 %</a:t>
            </a:r>
            <a:endParaRPr lang="en-US" sz="3400" dirty="0"/>
          </a:p>
        </p:txBody>
      </p:sp>
      <p:sp>
        <p:nvSpPr>
          <p:cNvPr id="12" name="Faux positifs légende"/>
          <p:cNvSpPr txBox="1"/>
          <p:nvPr/>
        </p:nvSpPr>
        <p:spPr>
          <a:xfrm>
            <a:off x="6126480" y="3950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 alertes EDR sont de fausses alarmes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L'entrée : un faux courriel de facture, le 11 septembre</a:t>
            </a:r>
            <a:endParaRPr lang="en-US" sz="2600" dirty="0"/>
          </a:p>
        </p:txBody>
      </p:sp>
      <p:sp>
        <p:nvSpPr>
          <p:cNvPr id="3" name="Étape entrée 1"/>
          <p:cNvSpPr/>
          <p:nvPr/>
        </p:nvSpPr>
        <p:spPr>
          <a:xfrm>
            <a:off x="457200" y="118872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ntrée 1 cercle"/>
          <p:cNvSpPr/>
          <p:nvPr/>
        </p:nvSpPr>
        <p:spPr>
          <a:xfrm>
            <a:off x="1078992" y="135331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5" name="Entrée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1513332"/>
            <a:ext cx="320040" cy="320040"/>
          </a:xfrm>
          <a:prstGeom prst="rect">
            <a:avLst/>
          </a:prstGeom>
        </p:spPr>
      </p:pic>
      <p:sp>
        <p:nvSpPr>
          <p:cNvPr id="6" name="Heure 1"/>
          <p:cNvSpPr txBox="1"/>
          <p:nvPr/>
        </p:nvSpPr>
        <p:spPr>
          <a:xfrm>
            <a:off x="59436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10:48</a:t>
            </a:r>
            <a:endParaRPr lang="en-US" sz="2000" dirty="0"/>
          </a:p>
        </p:txBody>
      </p:sp>
      <p:sp>
        <p:nvSpPr>
          <p:cNvPr id="7" name="Titre entrée 1"/>
          <p:cNvSpPr txBox="1"/>
          <p:nvPr/>
        </p:nvSpPr>
        <p:spPr>
          <a:xfrm>
            <a:off x="59436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Courriel piégé</a:t>
            </a:r>
            <a:endParaRPr lang="en-US" sz="1400" dirty="0"/>
          </a:p>
        </p:txBody>
      </p:sp>
      <p:sp>
        <p:nvSpPr>
          <p:cNvPr id="8" name="Détail entrée 1"/>
          <p:cNvSpPr txBox="1"/>
          <p:nvPr/>
        </p:nvSpPr>
        <p:spPr>
          <a:xfrm>
            <a:off x="594360" y="281635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Expéditeur sosie fourniseur-x.example, pièce jointe .pdf.htm, score 58 sous le seuil de 70</a:t>
            </a:r>
            <a:endParaRPr lang="en-US" sz="1150" dirty="0"/>
          </a:p>
        </p:txBody>
      </p:sp>
      <p:sp>
        <p:nvSpPr>
          <p:cNvPr id="9" name="Flèche 1"/>
          <p:cNvSpPr/>
          <p:nvPr/>
        </p:nvSpPr>
        <p:spPr>
          <a:xfrm>
            <a:off x="2377440" y="2441448"/>
            <a:ext cx="164592" cy="256032"/>
          </a:xfrm>
          <a:prstGeom prst="chevron">
            <a:avLst/>
          </a:prstGeom>
          <a:solidFill>
            <a:srgbClr val="9FB0AC"/>
          </a:solidFill>
          <a:ln w="12700">
            <a:solidFill>
              <a:srgbClr val="9FB0AC"/>
            </a:solidFill>
            <a:prstDash val="solid"/>
          </a:ln>
        </p:spPr>
      </p:sp>
      <p:sp>
        <p:nvSpPr>
          <p:cNvPr id="10" name="Étape entrée 2"/>
          <p:cNvSpPr/>
          <p:nvPr/>
        </p:nvSpPr>
        <p:spPr>
          <a:xfrm>
            <a:off x="2578608" y="118872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ntrée 2 cercle"/>
          <p:cNvSpPr/>
          <p:nvPr/>
        </p:nvSpPr>
        <p:spPr>
          <a:xfrm>
            <a:off x="3200400" y="135331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Entrée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513332"/>
            <a:ext cx="320040" cy="320040"/>
          </a:xfrm>
          <a:prstGeom prst="rect">
            <a:avLst/>
          </a:prstGeom>
        </p:spPr>
      </p:pic>
      <p:sp>
        <p:nvSpPr>
          <p:cNvPr id="13" name="Heure 2"/>
          <p:cNvSpPr txBox="1"/>
          <p:nvPr/>
        </p:nvSpPr>
        <p:spPr>
          <a:xfrm>
            <a:off x="2715768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11:14</a:t>
            </a:r>
            <a:endParaRPr lang="en-US" sz="2000" dirty="0"/>
          </a:p>
        </p:txBody>
      </p:sp>
      <p:sp>
        <p:nvSpPr>
          <p:cNvPr id="14" name="Titre entrée 2"/>
          <p:cNvSpPr txBox="1"/>
          <p:nvPr/>
        </p:nvSpPr>
        <p:spPr>
          <a:xfrm>
            <a:off x="2715768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Mot de passe saisi</a:t>
            </a:r>
            <a:endParaRPr lang="en-US" sz="1400" dirty="0"/>
          </a:p>
        </p:txBody>
      </p:sp>
      <p:sp>
        <p:nvSpPr>
          <p:cNvPr id="15" name="Détail entrée 2"/>
          <p:cNvSpPr txBox="1"/>
          <p:nvPr/>
        </p:nvSpPr>
        <p:spPr>
          <a:xfrm>
            <a:off x="2715768" y="281635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l.perrin (comptabilité) ouvre le lien et envoie le formulaire du faux site</a:t>
            </a:r>
            <a:endParaRPr lang="en-US" sz="1150" dirty="0"/>
          </a:p>
        </p:txBody>
      </p:sp>
      <p:sp>
        <p:nvSpPr>
          <p:cNvPr id="16" name="Flèche 2"/>
          <p:cNvSpPr/>
          <p:nvPr/>
        </p:nvSpPr>
        <p:spPr>
          <a:xfrm>
            <a:off x="4498848" y="2441448"/>
            <a:ext cx="164592" cy="256032"/>
          </a:xfrm>
          <a:prstGeom prst="chevron">
            <a:avLst/>
          </a:prstGeom>
          <a:solidFill>
            <a:srgbClr val="9FB0AC"/>
          </a:solidFill>
          <a:ln w="12700">
            <a:solidFill>
              <a:srgbClr val="9FB0AC"/>
            </a:solidFill>
            <a:prstDash val="solid"/>
          </a:ln>
        </p:spPr>
      </p:sp>
      <p:sp>
        <p:nvSpPr>
          <p:cNvPr id="17" name="Étape entrée 3"/>
          <p:cNvSpPr/>
          <p:nvPr/>
        </p:nvSpPr>
        <p:spPr>
          <a:xfrm>
            <a:off x="4700016" y="118872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Entrée 3 cercle"/>
          <p:cNvSpPr/>
          <p:nvPr/>
        </p:nvSpPr>
        <p:spPr>
          <a:xfrm>
            <a:off x="5321808" y="1353312"/>
            <a:ext cx="640080" cy="640080"/>
          </a:xfrm>
          <a:prstGeom prst="ellipse">
            <a:avLst/>
          </a:prstGeom>
          <a:solidFill>
            <a:srgbClr val="C8423A"/>
          </a:solidFill>
          <a:ln w="12700">
            <a:solidFill>
              <a:srgbClr val="C8423A"/>
            </a:solidFill>
            <a:prstDash val="solid"/>
          </a:ln>
        </p:spPr>
      </p:sp>
      <p:pic>
        <p:nvPicPr>
          <p:cNvPr id="19" name="Entrée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1513332"/>
            <a:ext cx="320040" cy="320040"/>
          </a:xfrm>
          <a:prstGeom prst="rect">
            <a:avLst/>
          </a:prstGeom>
        </p:spPr>
      </p:pic>
      <p:sp>
        <p:nvSpPr>
          <p:cNvPr id="20" name="Heure 3"/>
          <p:cNvSpPr txBox="1"/>
          <p:nvPr/>
        </p:nvSpPr>
        <p:spPr>
          <a:xfrm>
            <a:off x="4837176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11:20</a:t>
            </a:r>
            <a:endParaRPr lang="en-US" sz="2000" dirty="0"/>
          </a:p>
        </p:txBody>
      </p:sp>
      <p:sp>
        <p:nvSpPr>
          <p:cNvPr id="21" name="Titre entrée 3"/>
          <p:cNvSpPr txBox="1"/>
          <p:nvPr/>
        </p:nvSpPr>
        <p:spPr>
          <a:xfrm>
            <a:off x="4837176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Alerte EDR ignorée</a:t>
            </a:r>
            <a:endParaRPr lang="en-US" sz="1400" dirty="0"/>
          </a:p>
        </p:txBody>
      </p:sp>
      <p:sp>
        <p:nvSpPr>
          <p:cNvPr id="22" name="Détail entrée 3"/>
          <p:cNvSpPr txBox="1"/>
          <p:nvPr/>
        </p:nvSpPr>
        <p:spPr>
          <a:xfrm>
            <a:off x="4837176" y="281635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« Page d'hameçonnage visitée » : restée ouverte</a:t>
            </a:r>
            <a:endParaRPr lang="en-US" sz="1150" dirty="0"/>
          </a:p>
        </p:txBody>
      </p:sp>
      <p:sp>
        <p:nvSpPr>
          <p:cNvPr id="23" name="Flèche 3"/>
          <p:cNvSpPr/>
          <p:nvPr/>
        </p:nvSpPr>
        <p:spPr>
          <a:xfrm>
            <a:off x="6620256" y="2441448"/>
            <a:ext cx="164592" cy="256032"/>
          </a:xfrm>
          <a:prstGeom prst="chevron">
            <a:avLst/>
          </a:prstGeom>
          <a:solidFill>
            <a:srgbClr val="9FB0AC"/>
          </a:solidFill>
          <a:ln w="12700">
            <a:solidFill>
              <a:srgbClr val="9FB0AC"/>
            </a:solidFill>
            <a:prstDash val="solid"/>
          </a:ln>
        </p:spPr>
      </p:sp>
      <p:sp>
        <p:nvSpPr>
          <p:cNvPr id="24" name="Étape entrée 4"/>
          <p:cNvSpPr/>
          <p:nvPr/>
        </p:nvSpPr>
        <p:spPr>
          <a:xfrm>
            <a:off x="6821424" y="1188720"/>
            <a:ext cx="1874520" cy="274320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Entrée 4 cercle"/>
          <p:cNvSpPr/>
          <p:nvPr/>
        </p:nvSpPr>
        <p:spPr>
          <a:xfrm>
            <a:off x="7443216" y="135331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6" name="Entrée 4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36" y="1513332"/>
            <a:ext cx="320040" cy="320040"/>
          </a:xfrm>
          <a:prstGeom prst="rect">
            <a:avLst/>
          </a:prstGeom>
        </p:spPr>
      </p:pic>
      <p:sp>
        <p:nvSpPr>
          <p:cNvPr id="27" name="Heure 4"/>
          <p:cNvSpPr txBox="1"/>
          <p:nvPr/>
        </p:nvSpPr>
        <p:spPr>
          <a:xfrm>
            <a:off x="6958584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23:17</a:t>
            </a:r>
            <a:endParaRPr lang="en-US" sz="2000" dirty="0"/>
          </a:p>
        </p:txBody>
      </p:sp>
      <p:sp>
        <p:nvSpPr>
          <p:cNvPr id="28" name="Titre entrée 4"/>
          <p:cNvSpPr txBox="1"/>
          <p:nvPr/>
        </p:nvSpPr>
        <p:spPr>
          <a:xfrm>
            <a:off x="6958584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Connexion VPN</a:t>
            </a:r>
            <a:endParaRPr lang="en-US" sz="1400" dirty="0"/>
          </a:p>
        </p:txBody>
      </p:sp>
      <p:sp>
        <p:nvSpPr>
          <p:cNvPr id="29" name="Détail entrée 4"/>
          <p:cNvSpPr txBox="1"/>
          <p:nvPr/>
        </p:nvSpPr>
        <p:spPr>
          <a:xfrm>
            <a:off x="6958584" y="2816352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Depuis 203.0.113.87 : 2 refus du second facteur, puis succès</a:t>
            </a:r>
            <a:endParaRPr lang="en-US" sz="1150" dirty="0"/>
          </a:p>
        </p:txBody>
      </p:sp>
      <p:sp>
        <p:nvSpPr>
          <p:cNvPr id="30" name="Recoupement entrée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Recoupement 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même compte dans trois sources indépendantes (mail_gateway l. 1153 → proxy_web l. 15408 → vpn_auth l. 1349).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Inconnu 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comment le second facteur a été contourné.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En trois nuits, l'attaquant devient administrateur</a:t>
            </a:r>
            <a:endParaRPr lang="en-US" sz="2600" dirty="0"/>
          </a:p>
        </p:txBody>
      </p:sp>
      <p:sp>
        <p:nvSpPr>
          <p:cNvPr id="3" name="Carte progression 1"/>
          <p:cNvSpPr/>
          <p:nvPr/>
        </p:nvSpPr>
        <p:spPr>
          <a:xfrm>
            <a:off x="457200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gression 1 cercle"/>
          <p:cNvSpPr/>
          <p:nvPr/>
        </p:nvSpPr>
        <p:spPr>
          <a:xfrm>
            <a:off x="640080" y="1353312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5" name="Progression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495044"/>
            <a:ext cx="283464" cy="283464"/>
          </a:xfrm>
          <a:prstGeom prst="rect">
            <a:avLst/>
          </a:prstGeom>
        </p:spPr>
      </p:pic>
      <p:sp>
        <p:nvSpPr>
          <p:cNvPr id="6" name="Date 1"/>
          <p:cNvSpPr txBox="1"/>
          <p:nvPr/>
        </p:nvSpPr>
        <p:spPr>
          <a:xfrm>
            <a:off x="132588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A"/>
                </a:solidFill>
              </a:rPr>
              <a:t>12/09 · 01:05</a:t>
            </a:r>
            <a:endParaRPr lang="en-US" sz="1200" dirty="0"/>
          </a:p>
        </p:txBody>
      </p:sp>
      <p:sp>
        <p:nvSpPr>
          <p:cNvPr id="7" name="Titre progression 1"/>
          <p:cNvSpPr txBox="1"/>
          <p:nvPr/>
        </p:nvSpPr>
        <p:spPr>
          <a:xfrm>
            <a:off x="1325880" y="1627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Balayage du réseau</a:t>
            </a:r>
            <a:endParaRPr lang="en-US" sz="1600" dirty="0"/>
          </a:p>
        </p:txBody>
      </p:sp>
      <p:sp>
        <p:nvSpPr>
          <p:cNvPr id="8" name="Texte progression 1"/>
          <p:cNvSpPr txBox="1"/>
          <p:nvPr/>
        </p:nvSpPr>
        <p:spPr>
          <a:xfrm>
            <a:off x="640080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10.10.200.41, absente de l'inventaire, teste 8 serveurs × 5 ports en 25 s.</a:t>
            </a:r>
            <a:endParaRPr lang="en-US" sz="1300" dirty="0"/>
          </a:p>
        </p:txBody>
      </p:sp>
      <p:sp>
        <p:nvSpPr>
          <p:cNvPr id="9" name="Preuve 1"/>
          <p:cNvSpPr txBox="1"/>
          <p:nvPr/>
        </p:nvSpPr>
        <p:spPr>
          <a:xfrm>
            <a:off x="64008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A"/>
                </a:solidFill>
              </a:rPr>
              <a:t>firewall.csv l. 32227–32266</a:t>
            </a:r>
            <a:endParaRPr lang="en-US" sz="1050" dirty="0"/>
          </a:p>
        </p:txBody>
      </p:sp>
      <p:sp>
        <p:nvSpPr>
          <p:cNvPr id="10" name="Carte progression 2"/>
          <p:cNvSpPr/>
          <p:nvPr/>
        </p:nvSpPr>
        <p:spPr>
          <a:xfrm>
            <a:off x="3273552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ogression 2 cercle"/>
          <p:cNvSpPr/>
          <p:nvPr/>
        </p:nvSpPr>
        <p:spPr>
          <a:xfrm>
            <a:off x="3456432" y="1353312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2" name="Progression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1495044"/>
            <a:ext cx="283464" cy="283464"/>
          </a:xfrm>
          <a:prstGeom prst="rect">
            <a:avLst/>
          </a:prstGeom>
        </p:spPr>
      </p:pic>
      <p:sp>
        <p:nvSpPr>
          <p:cNvPr id="13" name="Date 2"/>
          <p:cNvSpPr txBox="1"/>
          <p:nvPr/>
        </p:nvSpPr>
        <p:spPr>
          <a:xfrm>
            <a:off x="4142232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A"/>
                </a:solidFill>
              </a:rPr>
              <a:t>14/09 · 02:01</a:t>
            </a:r>
            <a:endParaRPr lang="en-US" sz="1200" dirty="0"/>
          </a:p>
        </p:txBody>
      </p:sp>
      <p:sp>
        <p:nvSpPr>
          <p:cNvPr id="14" name="Titre progression 2"/>
          <p:cNvSpPr txBox="1"/>
          <p:nvPr/>
        </p:nvSpPr>
        <p:spPr>
          <a:xfrm>
            <a:off x="4142232" y="1627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Force brute</a:t>
            </a:r>
            <a:endParaRPr lang="en-US" sz="1600" dirty="0"/>
          </a:p>
        </p:txBody>
      </p:sp>
      <p:sp>
        <p:nvSpPr>
          <p:cNvPr id="15" name="Texte progression 2"/>
          <p:cNvSpPr txBox="1"/>
          <p:nvPr/>
        </p:nvSpPr>
        <p:spPr>
          <a:xfrm>
            <a:off x="3456432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échecs en 2 min sur n.vincent (informatique), puis connexion réussie.</a:t>
            </a:r>
            <a:endParaRPr lang="en-US" sz="1300" dirty="0"/>
          </a:p>
        </p:txBody>
      </p:sp>
      <p:sp>
        <p:nvSpPr>
          <p:cNvPr id="16" name="Preuve 2"/>
          <p:cNvSpPr txBox="1"/>
          <p:nvPr/>
        </p:nvSpPr>
        <p:spPr>
          <a:xfrm>
            <a:off x="3456432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A"/>
                </a:solidFill>
              </a:rPr>
              <a:t>ad_events.jsonl l. 5651–5660</a:t>
            </a:r>
            <a:endParaRPr lang="en-US" sz="1050" dirty="0"/>
          </a:p>
        </p:txBody>
      </p:sp>
      <p:sp>
        <p:nvSpPr>
          <p:cNvPr id="17" name="Carte progression 3"/>
          <p:cNvSpPr/>
          <p:nvPr/>
        </p:nvSpPr>
        <p:spPr>
          <a:xfrm>
            <a:off x="6089904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gression 3 cercle"/>
          <p:cNvSpPr/>
          <p:nvPr/>
        </p:nvSpPr>
        <p:spPr>
          <a:xfrm>
            <a:off x="6272784" y="1353312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9" name="Progression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1495044"/>
            <a:ext cx="283464" cy="283464"/>
          </a:xfrm>
          <a:prstGeom prst="rect">
            <a:avLst/>
          </a:prstGeom>
        </p:spPr>
      </p:pic>
      <p:sp>
        <p:nvSpPr>
          <p:cNvPr id="20" name="Date 3"/>
          <p:cNvSpPr txBox="1"/>
          <p:nvPr/>
        </p:nvSpPr>
        <p:spPr>
          <a:xfrm>
            <a:off x="6958584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6A"/>
                </a:solidFill>
              </a:rPr>
              <a:t>14/09 · 02:30</a:t>
            </a:r>
            <a:endParaRPr lang="en-US" sz="1200" dirty="0"/>
          </a:p>
        </p:txBody>
      </p:sp>
      <p:sp>
        <p:nvSpPr>
          <p:cNvPr id="21" name="Titre progression 3"/>
          <p:cNvSpPr txBox="1"/>
          <p:nvPr/>
        </p:nvSpPr>
        <p:spPr>
          <a:xfrm>
            <a:off x="6958584" y="1627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Compte caché</a:t>
            </a:r>
            <a:endParaRPr lang="en-US" sz="1600" dirty="0"/>
          </a:p>
        </p:txBody>
      </p:sp>
      <p:sp>
        <p:nvSpPr>
          <p:cNvPr id="22" name="Texte progression 3"/>
          <p:cNvSpPr txBox="1"/>
          <p:nvPr/>
        </p:nvSpPr>
        <p:spPr>
          <a:xfrm>
            <a:off x="6272784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svc_monitoring créé et ajouté aux Admins du domaine.</a:t>
            </a:r>
            <a:endParaRPr lang="en-US" sz="1300" dirty="0"/>
          </a:p>
        </p:txBody>
      </p:sp>
      <p:sp>
        <p:nvSpPr>
          <p:cNvPr id="23" name="Preuve 3"/>
          <p:cNvSpPr txBox="1"/>
          <p:nvPr/>
        </p:nvSpPr>
        <p:spPr>
          <a:xfrm>
            <a:off x="6272784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A"/>
                </a:solidFill>
              </a:rPr>
              <a:t>ad_events.jsonl l. 5661–5662</a:t>
            </a:r>
            <a:endParaRPr lang="en-US" sz="1050" dirty="0"/>
          </a:p>
        </p:txBody>
      </p:sp>
      <p:sp>
        <p:nvSpPr>
          <p:cNvPr id="24" name="Fausses pistes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DF1EE"/>
          </a:solidFill>
          <a:ln w="12700">
            <a:solidFill>
              <a:srgbClr val="FDF1EE"/>
            </a:solidFill>
            <a:prstDash val="solid"/>
          </a:ln>
        </p:spPr>
      </p:sp>
      <p:sp>
        <p:nvSpPr>
          <p:cNvPr id="25" name="Texte fausses pistes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Fausses pistes écartées 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4 créations de comptes RH en journée, 364 échecs isolés (fautes de frappe), 133 spams bloqués. Seules 2 rafales d'échecs existent, toutes deux depuis l'IP de l'attaquant.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L'impact : 0,89 Go volés et un serveur chiffré</a:t>
            </a:r>
            <a:endParaRPr lang="en-US" sz="2600" dirty="0"/>
          </a:p>
        </p:txBody>
      </p:sp>
      <p:pic>
        <p:nvPicPr>
          <p:cNvPr id="3" name="Frise de l'attaqu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42032"/>
          </a:xfrm>
          <a:prstGeom prst="rect">
            <a:avLst/>
          </a:prstGeom>
        </p:spPr>
      </p:pic>
      <p:sp>
        <p:nvSpPr>
          <p:cNvPr id="4" name="Volume chiffre"/>
          <p:cNvSpPr txBox="1"/>
          <p:nvPr/>
        </p:nvSpPr>
        <p:spPr>
          <a:xfrm>
            <a:off x="45720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 Go</a:t>
            </a:r>
            <a:endParaRPr lang="en-US" sz="2800" dirty="0"/>
          </a:p>
        </p:txBody>
      </p:sp>
      <p:sp>
        <p:nvSpPr>
          <p:cNvPr id="5" name="Volume légende"/>
          <p:cNvSpPr txBox="1"/>
          <p:nvPr/>
        </p:nvSpPr>
        <p:spPr>
          <a:xfrm>
            <a:off x="457200" y="4270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exfiltrés le 19/09 entre 03:37 et 04:04</a:t>
            </a:r>
            <a:endParaRPr lang="en-US" sz="1200" dirty="0"/>
          </a:p>
        </p:txBody>
      </p:sp>
      <p:sp>
        <p:nvSpPr>
          <p:cNvPr id="6" name="Durée chiffre"/>
          <p:cNvSpPr txBox="1"/>
          <p:nvPr/>
        </p:nvSpPr>
        <p:spPr>
          <a:xfrm>
            <a:off x="260604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 18 h</a:t>
            </a:r>
            <a:endParaRPr lang="en-US" sz="2800" dirty="0"/>
          </a:p>
        </p:txBody>
      </p:sp>
      <p:sp>
        <p:nvSpPr>
          <p:cNvPr id="7" name="Durée légende"/>
          <p:cNvSpPr txBox="1"/>
          <p:nvPr/>
        </p:nvSpPr>
        <p:spPr>
          <a:xfrm>
            <a:off x="2606040" y="4270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 le faux courriel et le chiffrement</a:t>
            </a:r>
            <a:endParaRPr lang="en-US" sz="1200" dirty="0"/>
          </a:p>
        </p:txBody>
      </p:sp>
      <p:sp>
        <p:nvSpPr>
          <p:cNvPr id="8" name="Alertes chiffre"/>
          <p:cNvSpPr txBox="1"/>
          <p:nvPr/>
        </p:nvSpPr>
        <p:spPr>
          <a:xfrm>
            <a:off x="475488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9" name="Alertes légende"/>
          <p:cNvSpPr txBox="1"/>
          <p:nvPr/>
        </p:nvSpPr>
        <p:spPr>
          <a:xfrm>
            <a:off x="4754880" y="4270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vraies alertes EDR, toutes restées ouvertes</a:t>
            </a:r>
            <a:endParaRPr lang="en-US" sz="1200" dirty="0"/>
          </a:p>
        </p:txBody>
      </p:sp>
      <p:sp>
        <p:nvSpPr>
          <p:cNvPr id="10" name="Périmètre chiffre"/>
          <p:cNvSpPr txBox="1"/>
          <p:nvPr/>
        </p:nvSpPr>
        <p:spPr>
          <a:xfrm>
            <a:off x="690372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Périmètre légende"/>
          <p:cNvSpPr txBox="1"/>
          <p:nvPr/>
        </p:nvSpPr>
        <p:spPr>
          <a:xfrm>
            <a:off x="6903720" y="42702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machines touchées, 3 comptes compromis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7 règles testées : l'alerte serait tombée 8 jours avant</a:t>
            </a:r>
            <a:endParaRPr lang="en-US" sz="2600" dirty="0"/>
          </a:p>
        </p:txBody>
      </p:sp>
      <p:graphicFrame>
        <p:nvGraphicFramePr>
          <p:cNvPr id="3" name="Graphique règles" descr=""/>
          <p:cNvGraphicFramePr/>
          <p:nvPr/>
        </p:nvGraphicFramePr>
        <p:xfrm>
          <a:off x="457200" y="105156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ruit chiffre"/>
          <p:cNvSpPr txBox="1"/>
          <p:nvPr/>
        </p:nvSpPr>
        <p:spPr>
          <a:xfrm>
            <a:off x="6217920" y="1143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5" name="Bruit légende"/>
          <p:cNvSpPr txBox="1"/>
          <p:nvPr/>
        </p:nvSpPr>
        <p:spPr>
          <a:xfrm>
            <a:off x="6217920" y="1709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alertes en 3 semaines pour les 7 règles, contre 208 pour l'EDR</a:t>
            </a:r>
            <a:endParaRPr lang="en-US" sz="1200" dirty="0"/>
          </a:p>
        </p:txBody>
      </p:sp>
      <p:sp>
        <p:nvSpPr>
          <p:cNvPr id="6" name="Limite règles"/>
          <p:cNvSpPr/>
          <p:nvPr/>
        </p:nvSpPr>
        <p:spPr>
          <a:xfrm>
            <a:off x="6217920" y="251460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FDF1EE"/>
          </a:solidFill>
          <a:ln w="12700">
            <a:solidFill>
              <a:srgbClr val="FDF1EE"/>
            </a:solidFill>
            <a:prstDash val="solid"/>
          </a:ln>
        </p:spPr>
      </p:sp>
      <p:sp>
        <p:nvSpPr>
          <p:cNvPr id="7" name="Texte limite"/>
          <p:cNvSpPr txBox="1"/>
          <p:nvPr/>
        </p:nvSpPr>
        <p:spPr>
          <a:xfrm>
            <a:off x="635508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Limite assumée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Les règles ont été réglées sur les mêmes données qui les évaluent : à valider sur d'autres semaines avant de les déployer.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Ce que je recommande à Nordis Logistique</a:t>
            </a:r>
            <a:endParaRPr lang="en-US" sz="2600" dirty="0"/>
          </a:p>
        </p:txBody>
      </p:sp>
      <p:sp>
        <p:nvSpPr>
          <p:cNvPr id="3" name="Carte reco 1"/>
          <p:cNvSpPr/>
          <p:nvPr/>
        </p:nvSpPr>
        <p:spPr>
          <a:xfrm>
            <a:off x="457200" y="1143000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1E4650"/>
          </a:solidFill>
          <a:ln w="12700">
            <a:solidFill>
              <a:srgbClr val="1E4650"/>
            </a:solidFill>
            <a:prstDash val="solid"/>
          </a:ln>
        </p:spPr>
      </p:sp>
      <p:sp>
        <p:nvSpPr>
          <p:cNvPr id="4" name="Reco 1 cercle"/>
          <p:cNvSpPr/>
          <p:nvPr/>
        </p:nvSpPr>
        <p:spPr>
          <a:xfrm>
            <a:off x="621792" y="1307592"/>
            <a:ext cx="566928" cy="566928"/>
          </a:xfrm>
          <a:prstGeom prst="ellipse">
            <a:avLst/>
          </a:prstGeom>
          <a:solidFill>
            <a:srgbClr val="C8423A"/>
          </a:solidFill>
          <a:ln w="12700">
            <a:solidFill>
              <a:srgbClr val="C8423A"/>
            </a:solidFill>
            <a:prstDash val="solid"/>
          </a:ln>
        </p:spPr>
      </p:sp>
      <p:pic>
        <p:nvPicPr>
          <p:cNvPr id="5" name="Reco 1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449324"/>
            <a:ext cx="283464" cy="283464"/>
          </a:xfrm>
          <a:prstGeom prst="rect">
            <a:avLst/>
          </a:prstGeom>
        </p:spPr>
      </p:pic>
      <p:sp>
        <p:nvSpPr>
          <p:cNvPr id="6" name="Titre reco 1"/>
          <p:cNvSpPr txBox="1"/>
          <p:nvPr/>
        </p:nvSpPr>
        <p:spPr>
          <a:xfrm>
            <a:off x="1371600" y="1216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Immédiat</a:t>
            </a:r>
            <a:endParaRPr lang="en-US" sz="1400" dirty="0"/>
          </a:p>
        </p:txBody>
      </p:sp>
      <p:sp>
        <p:nvSpPr>
          <p:cNvPr id="7" name="Texte reco 1"/>
          <p:cNvSpPr txBox="1"/>
          <p:nvPr/>
        </p:nvSpPr>
        <p:spPr>
          <a:xfrm>
            <a:off x="1371600" y="149047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E5"/>
                </a:solidFill>
              </a:rPr>
              <a:t>Désactiver svc_monitoring, changer les mots de passe volés, bloquer les IoC, restaurer depuis une sauvegarde hors ligne, notifier la CNIL sous 72 h si besoin.</a:t>
            </a:r>
            <a:endParaRPr lang="en-US" sz="1150" dirty="0"/>
          </a:p>
        </p:txBody>
      </p:sp>
      <p:sp>
        <p:nvSpPr>
          <p:cNvPr id="8" name="Carte reco 2"/>
          <p:cNvSpPr/>
          <p:nvPr/>
        </p:nvSpPr>
        <p:spPr>
          <a:xfrm>
            <a:off x="457200" y="2167128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1E4650"/>
          </a:solidFill>
          <a:ln w="12700">
            <a:solidFill>
              <a:srgbClr val="1E4650"/>
            </a:solidFill>
            <a:prstDash val="solid"/>
          </a:ln>
        </p:spPr>
      </p:sp>
      <p:sp>
        <p:nvSpPr>
          <p:cNvPr id="9" name="Reco 2 cercle"/>
          <p:cNvSpPr/>
          <p:nvPr/>
        </p:nvSpPr>
        <p:spPr>
          <a:xfrm>
            <a:off x="621792" y="2331720"/>
            <a:ext cx="566928" cy="56692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0" name="Reco 2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473452"/>
            <a:ext cx="283464" cy="283464"/>
          </a:xfrm>
          <a:prstGeom prst="rect">
            <a:avLst/>
          </a:prstGeom>
        </p:spPr>
      </p:pic>
      <p:sp>
        <p:nvSpPr>
          <p:cNvPr id="11" name="Titre reco 2"/>
          <p:cNvSpPr txBox="1"/>
          <p:nvPr/>
        </p:nvSpPr>
        <p:spPr>
          <a:xfrm>
            <a:off x="1371600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Sous 1 mois</a:t>
            </a:r>
            <a:endParaRPr lang="en-US" sz="1400" dirty="0"/>
          </a:p>
        </p:txBody>
      </p:sp>
      <p:sp>
        <p:nvSpPr>
          <p:cNvPr id="12" name="Texte reco 2"/>
          <p:cNvSpPr txBox="1"/>
          <p:nvPr/>
        </p:nvSpPr>
        <p:spPr>
          <a:xfrm>
            <a:off x="1371600" y="251460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E5"/>
                </a:solidFill>
              </a:rPr>
              <a:t>MFA résistant à l'hameçonnage, verrouillage après 5 échecs, proxy en mode blocage, astreinte de nuit sur les alertes critiques.</a:t>
            </a:r>
            <a:endParaRPr lang="en-US" sz="1150" dirty="0"/>
          </a:p>
        </p:txBody>
      </p:sp>
      <p:sp>
        <p:nvSpPr>
          <p:cNvPr id="13" name="Carte reco 3"/>
          <p:cNvSpPr/>
          <p:nvPr/>
        </p:nvSpPr>
        <p:spPr>
          <a:xfrm>
            <a:off x="457200" y="3191256"/>
            <a:ext cx="5120640" cy="896112"/>
          </a:xfrm>
          <a:prstGeom prst="roundRect">
            <a:avLst>
              <a:gd name="adj" fmla="val 8163"/>
            </a:avLst>
          </a:prstGeom>
          <a:solidFill>
            <a:srgbClr val="1E4650"/>
          </a:solidFill>
          <a:ln w="12700">
            <a:solidFill>
              <a:srgbClr val="1E4650"/>
            </a:solidFill>
            <a:prstDash val="solid"/>
          </a:ln>
        </p:spPr>
      </p:sp>
      <p:sp>
        <p:nvSpPr>
          <p:cNvPr id="14" name="Reco 3 cercle"/>
          <p:cNvSpPr/>
          <p:nvPr/>
        </p:nvSpPr>
        <p:spPr>
          <a:xfrm>
            <a:off x="621792" y="3355848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5" name="Reco 3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497580"/>
            <a:ext cx="283464" cy="283464"/>
          </a:xfrm>
          <a:prstGeom prst="rect">
            <a:avLst/>
          </a:prstGeom>
        </p:spPr>
      </p:pic>
      <p:sp>
        <p:nvSpPr>
          <p:cNvPr id="16" name="Titre reco 3"/>
          <p:cNvSpPr txBox="1"/>
          <p:nvPr/>
        </p:nvSpPr>
        <p:spPr>
          <a:xfrm>
            <a:off x="1371600" y="3264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Sous 3 mois</a:t>
            </a:r>
            <a:endParaRPr lang="en-US" sz="1400" dirty="0"/>
          </a:p>
        </p:txBody>
      </p:sp>
      <p:sp>
        <p:nvSpPr>
          <p:cNvPr id="17" name="Texte reco 3"/>
          <p:cNvSpPr txBox="1"/>
          <p:nvPr/>
        </p:nvSpPr>
        <p:spPr>
          <a:xfrm>
            <a:off x="1371600" y="353872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E5"/>
                </a:solidFill>
              </a:rPr>
              <a:t>Déployer les 7 règles, réduire les faux positifs de l'EDR, sauvegardes immuables testées.</a:t>
            </a:r>
            <a:endParaRPr lang="en-US" sz="1150" dirty="0"/>
          </a:p>
        </p:txBody>
      </p:sp>
      <p:sp>
        <p:nvSpPr>
          <p:cNvPr id="18" name="Conclusion"/>
          <p:cNvSpPr txBox="1"/>
          <p:nvPr/>
        </p:nvSpPr>
        <p:spPr>
          <a:xfrm>
            <a:off x="5943600" y="114300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 que je retiens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E5"/>
                </a:solidFill>
              </a:rPr>
              <a:t>Les outils avaient tout vu : ce sont l'organisation et la fatigue d'alerte qui ont manqué.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DCE8E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E5"/>
                </a:solidFill>
              </a:rPr>
              <a:t>Python permet d'automatiser l'analyse : chaque conclusion est rejouable et prouvée par une ligne de journal.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DCE8E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FE0CC"/>
                </a:solidFill>
              </a:rPr>
              <a:t>Merci. Avez-vous des questions 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ume SOC">
  <a:themeElements>
    <a:clrScheme name="Brume SOC">
      <a:dk1>
        <a:srgbClr val="1A2328"/>
      </a:dk1>
      <a:lt1>
        <a:srgbClr val="FFFFFF"/>
      </a:lt1>
      <a:dk2>
        <a:srgbClr val="12313A"/>
      </a:dk2>
      <a:lt2>
        <a:srgbClr val="EEF3F2"/>
      </a:lt2>
      <a:accent1>
        <a:srgbClr val="1D6B58"/>
      </a:accent1>
      <a:accent2>
        <a:srgbClr val="C8423A"/>
      </a:accent2>
      <a:accent3>
        <a:srgbClr val="2A78D6"/>
      </a:accent3>
      <a:accent4>
        <a:srgbClr val="EB6834"/>
      </a:accent4>
      <a:accent5>
        <a:srgbClr val="1BAF7A"/>
      </a:accent5>
      <a:accent6>
        <a:srgbClr val="EDA100"/>
      </a:accent6>
      <a:hlink>
        <a:srgbClr val="2A78D6"/>
      </a:hlink>
      <a:folHlink>
        <a:srgbClr val="6250D6"/>
      </a:folHlink>
    </a:clrScheme>
    <a:fontScheme name="Brume SO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Opération Brume – soutenance</dc:title>
  <dc:subject>PptxGenJS Presentation</dc:subject>
  <dc:creator>Priscilla MANEDJI NGOUANA</dc:creator>
  <cp:lastModifiedBy>Priscilla MANEDJI NGOUANA</cp:lastModifiedBy>
  <cp:revision>1</cp:revision>
  <dcterms:created xsi:type="dcterms:W3CDTF">2026-10-22T13:37:37Z</dcterms:created>
  <dcterms:modified xsi:type="dcterms:W3CDTF">2026-10-22T13:37:37Z</dcterms:modified>
</cp:coreProperties>
</file>